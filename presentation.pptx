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Merriweather" panose="00000500000000000000" pitchFamily="2" charset="0"/>
      <p:regular r:id="rId15"/>
      <p:bold r:id="rId16"/>
    </p:embeddedFont>
    <p:embeddedFont>
      <p:font typeface="Merriweather Light" panose="000004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70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71662" y="1809839"/>
            <a:ext cx="10677525" cy="93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Framingham Heart Study Analysis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368748" y="2855581"/>
            <a:ext cx="9127927" cy="547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459485" y="3402673"/>
            <a:ext cx="4946451" cy="119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Presenter: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E2E6E9"/>
                </a:solidFill>
                <a:latin typeface="Merriweather" pitchFamily="34" charset="0"/>
              </a:rPr>
              <a:t>Abolfazl Ghandi Arani</a:t>
            </a:r>
            <a:endParaRPr lang="en-US" sz="3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979541-A7AA-E044-FAD4-E8B293675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04" y="325652"/>
            <a:ext cx="1180222" cy="11802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818636-0C4A-C17F-D363-A67030F04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3703" y="215563"/>
            <a:ext cx="1679913" cy="1294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54650F-BCFB-F14E-86D8-85D99B50E20C}"/>
              </a:ext>
            </a:extLst>
          </p:cNvPr>
          <p:cNvSpPr txBox="1"/>
          <p:nvPr/>
        </p:nvSpPr>
        <p:spPr>
          <a:xfrm>
            <a:off x="6130244" y="7480816"/>
            <a:ext cx="160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erriweather" panose="00000500000000000000" pitchFamily="2" charset="0"/>
              </a:rPr>
              <a:t>Winter 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76C7D5-64FA-F08F-1709-70EA6663AD33}"/>
              </a:ext>
            </a:extLst>
          </p:cNvPr>
          <p:cNvSpPr txBox="1"/>
          <p:nvPr/>
        </p:nvSpPr>
        <p:spPr>
          <a:xfrm>
            <a:off x="5832888" y="5289187"/>
            <a:ext cx="2199641" cy="13170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Merriweather" panose="00000500000000000000" pitchFamily="2" charset="0"/>
              </a:rPr>
              <a:t>Student ID: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Merriweather" panose="00000500000000000000" pitchFamily="2" charset="0"/>
              </a:rPr>
              <a:t>810104229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213" y="498277"/>
            <a:ext cx="6527840" cy="514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 &amp; Methodology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57213" y="1625084"/>
            <a:ext cx="1645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57213" y="1881902"/>
            <a:ext cx="7991475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" name="Text 3"/>
          <p:cNvSpPr/>
          <p:nvPr/>
        </p:nvSpPr>
        <p:spPr>
          <a:xfrm>
            <a:off x="557213" y="2009894"/>
            <a:ext cx="2058114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57213" y="2416075"/>
            <a:ext cx="7991475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 and quantify risk factors associated with 10-year coronary heart disease risk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7211" y="3154441"/>
            <a:ext cx="1645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57211" y="3426023"/>
            <a:ext cx="7991475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0" name="Text 7"/>
          <p:cNvSpPr/>
          <p:nvPr/>
        </p:nvSpPr>
        <p:spPr>
          <a:xfrm>
            <a:off x="557211" y="3554015"/>
            <a:ext cx="2058114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57211" y="3877151"/>
            <a:ext cx="7991475" cy="43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Framingham Heart Study with 4,240 participants including demographic, behavioral, and medical markers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7213" y="6412826"/>
            <a:ext cx="1645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57213" y="6669644"/>
            <a:ext cx="7991475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Text 11"/>
          <p:cNvSpPr/>
          <p:nvPr/>
        </p:nvSpPr>
        <p:spPr>
          <a:xfrm>
            <a:off x="557213" y="6797636"/>
            <a:ext cx="2058114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57213" y="7120771"/>
            <a:ext cx="7991475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visualization, hypothesis testing, and regression modeling using Logistic and Lasso regression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7213" y="4971752"/>
            <a:ext cx="1645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57213" y="5228570"/>
            <a:ext cx="7991475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8" name="Text 15"/>
          <p:cNvSpPr/>
          <p:nvPr/>
        </p:nvSpPr>
        <p:spPr>
          <a:xfrm>
            <a:off x="557213" y="5356562"/>
            <a:ext cx="2058114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Handling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57213" y="5679698"/>
            <a:ext cx="7991475" cy="219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values imputed: Glucose (mean), Education (mode) to preserve sample size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8979" y="444520"/>
            <a:ext cx="7152442" cy="558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Demographics &amp; Class Imbalance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467517" y="1753434"/>
            <a:ext cx="4229734" cy="1377076"/>
          </a:xfrm>
          <a:prstGeom prst="roundRect">
            <a:avLst>
              <a:gd name="adj" fmla="val 3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3968" y="1939885"/>
            <a:ext cx="3542051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 Distribution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53967" y="2348866"/>
            <a:ext cx="4043283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 concentration of middle-aged individuals representing at-risk demographic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7517" y="3890248"/>
            <a:ext cx="4229734" cy="1377077"/>
          </a:xfrm>
          <a:prstGeom prst="roundRect">
            <a:avLst>
              <a:gd name="adj" fmla="val 3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3968" y="4126765"/>
            <a:ext cx="1920716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BMI Profile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53968" y="4525624"/>
            <a:ext cx="4043283" cy="91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Right-skewed distribution with significant portion in overweight/obese range (BMI &gt; 25)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7517" y="6027064"/>
            <a:ext cx="4229734" cy="1377077"/>
          </a:xfrm>
          <a:prstGeom prst="roundRect">
            <a:avLst>
              <a:gd name="adj" fmla="val 3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969" y="6213516"/>
            <a:ext cx="3542086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Outcome Imbalance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3967" y="6630471"/>
            <a:ext cx="3772078" cy="7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Participants without CHD vastly outnumber those who developed it (0 vs 1)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841AF0-990B-1E9D-024E-DBC364A02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6" y="1597341"/>
            <a:ext cx="8532494" cy="60893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84527" y="322659"/>
            <a:ext cx="12283321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Bivariate Analysis: Blood Pressure &amp; Smoking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28900" y="5507474"/>
            <a:ext cx="4214574" cy="2392323"/>
          </a:xfrm>
          <a:prstGeom prst="roundRect">
            <a:avLst>
              <a:gd name="adj" fmla="val 4683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84527" y="5763101"/>
            <a:ext cx="2814280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Correlation Pattern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4527" y="6238042"/>
            <a:ext cx="3703320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positive linear relationship between Systolic and Diastolic BP (collinearity expected)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48738" y="5507474"/>
            <a:ext cx="4214693" cy="2392323"/>
          </a:xfrm>
          <a:prstGeom prst="roundRect">
            <a:avLst>
              <a:gd name="adj" fmla="val 4683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04365" y="5763101"/>
            <a:ext cx="2814280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Smoking Effect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04365" y="6238042"/>
            <a:ext cx="3703439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Median blood pressure is similar between smokers and non-smokers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568695" y="5507474"/>
            <a:ext cx="4214693" cy="2392323"/>
          </a:xfrm>
          <a:prstGeom prst="roundRect">
            <a:avLst>
              <a:gd name="adj" fmla="val 4683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824322" y="5763101"/>
            <a:ext cx="2814280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Outlier Pattern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4322" y="6238042"/>
            <a:ext cx="3703439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Smokers exhibit wider spread of outliers, prompting further statistical testing on heart rate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32B64E-4035-C3A1-7191-D7F26AEB4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43" y="1522156"/>
            <a:ext cx="13058145" cy="3612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728" y="413622"/>
            <a:ext cx="4818817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Correlation Analysis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84728" y="1547337"/>
            <a:ext cx="433626" cy="433626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68848" y="1613536"/>
            <a:ext cx="240934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Blood Pressure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68848" y="2065259"/>
            <a:ext cx="3341965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Strongest correlation found between Systolic and Diastolic BP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4728" y="2915365"/>
            <a:ext cx="433626" cy="433626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848" y="2981564"/>
            <a:ext cx="240934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 Association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68848" y="3433287"/>
            <a:ext cx="3341965" cy="823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Moderate positive correlation with blood pressure (consistent with arterial stiffening)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4728" y="4557951"/>
            <a:ext cx="433626" cy="433626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8848" y="4624150"/>
            <a:ext cx="256210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Smoking &amp; Heart Rate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68848" y="5075873"/>
            <a:ext cx="3341965" cy="823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Spearman's Rho shows statistically significant positive relationship (p &lt; 0.05)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2586" y="6418903"/>
            <a:ext cx="5280064" cy="979408"/>
          </a:xfrm>
          <a:prstGeom prst="roundRect">
            <a:avLst>
              <a:gd name="adj" fmla="val 8266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28" y="6696795"/>
            <a:ext cx="240863" cy="1926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08735" y="6617499"/>
            <a:ext cx="4920615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Physiological Effect:</a:t>
            </a:r>
            <a:r>
              <a:rPr lang="en-US" sz="15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Confirms nicotine acts as a sympathomimetic, increasing heart rate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3AAF4F-3DD0-A58C-FD38-B3F51205A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871" y="1015840"/>
            <a:ext cx="7863413" cy="65528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4129" y="435886"/>
            <a:ext cx="8529161" cy="592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Statistical Estimation &amp; Distributions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29292" y="1855053"/>
            <a:ext cx="5852517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≈0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471176" y="2684085"/>
            <a:ext cx="236874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BMI Normality Test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29292" y="3067467"/>
            <a:ext cx="585251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Shapiro-Wilk test rejects normality; distribution is right-skewed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0014" y="4526517"/>
            <a:ext cx="4880670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[235.35, 238.05]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19161" y="5355549"/>
            <a:ext cx="236874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Cholesterol CI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77277" y="5738931"/>
            <a:ext cx="585251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95% Confidence Interval for mean cholesterol (mg/dL)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0014" y="6343529"/>
            <a:ext cx="2368748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Clinical Context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40014" y="6785013"/>
            <a:ext cx="4289049" cy="804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population baseline is elevated compared to the desirable level (&lt;200 mg/dL)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C9929B-1560-289F-8D69-8E3BDF48E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923" y="1231699"/>
            <a:ext cx="7306751" cy="3044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27A6B8-2CCA-42F8-D0D7-E22FF5E08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923" y="4579980"/>
            <a:ext cx="7306751" cy="30445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578287"/>
            <a:ext cx="8086844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Hypothesis Testing Results</a:t>
            </a:r>
            <a:endParaRPr lang="en-US" sz="4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757607"/>
            <a:ext cx="4300895" cy="987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615" y="399168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T-Test (Heart Rate)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10615" y="4525208"/>
            <a:ext cx="3807262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Reject Null Hypothesis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 = 2.21e-5</a:t>
            </a:r>
            <a:endParaRPr lang="en-US" sz="1900" dirty="0"/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Smokers have significantly higher heart rates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93" y="2757607"/>
            <a:ext cx="4300895" cy="9872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11510" y="3991689"/>
            <a:ext cx="380726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Mann-Whitney U (Glucose)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411510" y="4910733"/>
            <a:ext cx="3807262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Reject Null Hypothesis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 ≈ 0</a:t>
            </a:r>
            <a:endParaRPr lang="en-US" sz="1900" dirty="0"/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Glucose levels differ significantly by diabetes status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588" y="2757607"/>
            <a:ext cx="4301014" cy="9872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399168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Power Analysis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9712404" y="4525208"/>
            <a:ext cx="3807381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Sample size (N &gt; 4000) provides &gt;80% power to detect even small effect sizes</a:t>
            </a:r>
            <a:endParaRPr lang="en-US" sz="19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0720" y="458281"/>
            <a:ext cx="7493913" cy="56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ANOVA: Socioeconomics &amp; Obesity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125135" y="3087410"/>
            <a:ext cx="2306717" cy="2701647"/>
          </a:xfrm>
          <a:prstGeom prst="roundRect">
            <a:avLst>
              <a:gd name="adj" fmla="val 327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2658" y="3274934"/>
            <a:ext cx="539710" cy="539710"/>
          </a:xfrm>
          <a:prstGeom prst="roundRect">
            <a:avLst>
              <a:gd name="adj" fmla="val 16940738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10" y="3423285"/>
            <a:ext cx="242888" cy="242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2658" y="3945732"/>
            <a:ext cx="1931670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Test Design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12658" y="4357926"/>
            <a:ext cx="1931670" cy="746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Comparing mean BMI across 4 Education Levels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70559" y="3086933"/>
            <a:ext cx="2306836" cy="2701647"/>
          </a:xfrm>
          <a:prstGeom prst="roundRect">
            <a:avLst>
              <a:gd name="adj" fmla="val 327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58083" y="3274457"/>
            <a:ext cx="539710" cy="539710"/>
          </a:xfrm>
          <a:prstGeom prst="roundRect">
            <a:avLst>
              <a:gd name="adj" fmla="val 16940738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06435" y="3422808"/>
            <a:ext cx="242888" cy="242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58083" y="3945255"/>
            <a:ext cx="193178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Result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2758083" y="4357449"/>
            <a:ext cx="1931789" cy="497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Significant difference found (F=38.66, p ≈ 0)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08483" y="3086933"/>
            <a:ext cx="2306717" cy="2701647"/>
          </a:xfrm>
          <a:prstGeom prst="roundRect">
            <a:avLst>
              <a:gd name="adj" fmla="val 327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196007" y="3274457"/>
            <a:ext cx="539710" cy="539710"/>
          </a:xfrm>
          <a:prstGeom prst="roundRect">
            <a:avLst>
              <a:gd name="adj" fmla="val 16940738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4358" y="3422808"/>
            <a:ext cx="242888" cy="242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6007" y="3945255"/>
            <a:ext cx="1931670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Tukey's HSD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5196007" y="4357449"/>
            <a:ext cx="1931670" cy="124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Group 1 (Lowest Education) has significantly higher BMI than all other groups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2070735" y="6414373"/>
            <a:ext cx="3664982" cy="1130022"/>
          </a:xfrm>
          <a:prstGeom prst="roundRect">
            <a:avLst>
              <a:gd name="adj" fmla="val 6687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0639" y="6664523"/>
            <a:ext cx="224909" cy="1799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655451" y="6590347"/>
            <a:ext cx="2900363" cy="746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Conclusion:</a:t>
            </a:r>
            <a:r>
              <a:rPr lang="en-US" sz="1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Lower educational attainment is a strong indicator for obesity risk in this cohort</a:t>
            </a:r>
            <a:endParaRPr lang="en-US" sz="1400" dirty="0"/>
          </a:p>
        </p:txBody>
      </p:sp>
      <p:pic>
        <p:nvPicPr>
          <p:cNvPr id="22" name="table">
            <a:extLst>
              <a:ext uri="{FF2B5EF4-FFF2-40B4-BE49-F238E27FC236}">
                <a16:creationId xmlns:a16="http://schemas.microsoft.com/office/drawing/2014/main" id="{891F21F9-7FCB-F9A6-46C1-8BC43E0282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3917" y="2197476"/>
            <a:ext cx="6761698" cy="438102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9744" y="493633"/>
            <a:ext cx="6584513" cy="47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Logistic Regression: CHD Prediction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381512" y="2448639"/>
            <a:ext cx="1867138" cy="379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85.14%</a:t>
            </a:r>
            <a:endParaRPr lang="en-US" sz="2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605" y="1499949"/>
            <a:ext cx="2277070" cy="22770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66391" y="3908227"/>
            <a:ext cx="189761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Accuracy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553891" y="4201358"/>
            <a:ext cx="9522619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 predicting 10-Year CHD risk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53891" y="4502468"/>
            <a:ext cx="4714637" cy="1416368"/>
          </a:xfrm>
          <a:prstGeom prst="roundRect">
            <a:avLst>
              <a:gd name="adj" fmla="val 4502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569131" y="4517708"/>
            <a:ext cx="4684157" cy="455414"/>
          </a:xfrm>
          <a:prstGeom prst="roundRect">
            <a:avLst>
              <a:gd name="adj" fmla="val 9985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7385" y="4627721"/>
            <a:ext cx="227647" cy="2276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20935" y="5066467"/>
            <a:ext cx="189761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Predictor: Age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2720935" y="5359598"/>
            <a:ext cx="438054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β = 0.57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Strongest driver of risk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61873" y="4502468"/>
            <a:ext cx="4714637" cy="1416368"/>
          </a:xfrm>
          <a:prstGeom prst="roundRect">
            <a:avLst>
              <a:gd name="adj" fmla="val 4502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377113" y="4517708"/>
            <a:ext cx="4684157" cy="455414"/>
          </a:xfrm>
          <a:prstGeom prst="roundRect">
            <a:avLst>
              <a:gd name="adj" fmla="val 9985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5367" y="4627721"/>
            <a:ext cx="227647" cy="2276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28917" y="5066467"/>
            <a:ext cx="189761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Predictor: SysBP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528917" y="5359598"/>
            <a:ext cx="438054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β = 0.39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Major independent risk factor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553891" y="6012180"/>
            <a:ext cx="4714637" cy="1416368"/>
          </a:xfrm>
          <a:prstGeom prst="roundRect">
            <a:avLst>
              <a:gd name="adj" fmla="val 4502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2569131" y="6027420"/>
            <a:ext cx="4684157" cy="455414"/>
          </a:xfrm>
          <a:prstGeom prst="roundRect">
            <a:avLst>
              <a:gd name="adj" fmla="val 9985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7385" y="6137434"/>
            <a:ext cx="227647" cy="2276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720935" y="6576179"/>
            <a:ext cx="2101691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Behavioral: CigsPerDay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2720935" y="6869311"/>
            <a:ext cx="438054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β = 0.25</a:t>
            </a:r>
            <a:endParaRPr lang="en-US" sz="11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Quantity matters distinct from smoker status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361873" y="6012180"/>
            <a:ext cx="4714637" cy="1416368"/>
          </a:xfrm>
          <a:prstGeom prst="roundRect">
            <a:avLst>
              <a:gd name="adj" fmla="val 4502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377113" y="6027420"/>
            <a:ext cx="4684157" cy="455414"/>
          </a:xfrm>
          <a:prstGeom prst="roundRect">
            <a:avLst>
              <a:gd name="adj" fmla="val 9985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05367" y="6137434"/>
            <a:ext cx="227647" cy="2276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28917" y="6576179"/>
            <a:ext cx="1897618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Cholesterol Note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528917" y="6869311"/>
            <a:ext cx="4380548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Showed weak predictive power when controlling for other factors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798" y="527924"/>
            <a:ext cx="8740378" cy="551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Lasso Regression: Determinants of SysBP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781889" y="2118836"/>
            <a:ext cx="220527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781889" y="2520553"/>
            <a:ext cx="7042666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 predictors of Systolic Blood Pressure using L1 Regularization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89" y="2904411"/>
            <a:ext cx="7042666" cy="39307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62467" y="1707237"/>
            <a:ext cx="1197769" cy="501491"/>
          </a:xfrm>
          <a:prstGeom prst="roundRect">
            <a:avLst>
              <a:gd name="adj" fmla="val 1477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7288" y="1833920"/>
            <a:ext cx="248007" cy="2480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62467" y="2252782"/>
            <a:ext cx="2395657" cy="501491"/>
          </a:xfrm>
          <a:prstGeom prst="roundRect">
            <a:avLst>
              <a:gd name="adj" fmla="val 1477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36292" y="2379464"/>
            <a:ext cx="248007" cy="24800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262467" y="2798326"/>
            <a:ext cx="3593544" cy="501491"/>
          </a:xfrm>
          <a:prstGeom prst="roundRect">
            <a:avLst>
              <a:gd name="adj" fmla="val 14776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35176" y="2925008"/>
            <a:ext cx="248007" cy="24800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262467" y="3476149"/>
            <a:ext cx="352782" cy="352782"/>
          </a:xfrm>
          <a:prstGeom prst="roundRect">
            <a:avLst>
              <a:gd name="adj" fmla="val 210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547" y="3542169"/>
            <a:ext cx="220504" cy="2205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741337" y="3514725"/>
            <a:ext cx="220527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Diastolic BP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9741337" y="3916442"/>
            <a:ext cx="3114675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β = 15.72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Dominant feature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9262467" y="4665107"/>
            <a:ext cx="352782" cy="352782"/>
          </a:xfrm>
          <a:prstGeom prst="roundRect">
            <a:avLst>
              <a:gd name="adj" fmla="val 210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8547" y="4731127"/>
            <a:ext cx="220504" cy="22050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741337" y="4703683"/>
            <a:ext cx="220527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9741337" y="5105400"/>
            <a:ext cx="3114675" cy="72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β = 5.08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Secondary feature due to arterial stiffening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9262467" y="6096119"/>
            <a:ext cx="352782" cy="352782"/>
          </a:xfrm>
          <a:prstGeom prst="roundRect">
            <a:avLst>
              <a:gd name="adj" fmla="val 2100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8547" y="6162139"/>
            <a:ext cx="220504" cy="22050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741337" y="6134695"/>
            <a:ext cx="220527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CigsPerDay</a:t>
            </a:r>
            <a:endParaRPr lang="en-US" sz="1700" dirty="0"/>
          </a:p>
        </p:txBody>
      </p:sp>
      <p:sp>
        <p:nvSpPr>
          <p:cNvPr id="23" name="Text 14"/>
          <p:cNvSpPr/>
          <p:nvPr/>
        </p:nvSpPr>
        <p:spPr>
          <a:xfrm>
            <a:off x="9741337" y="6536412"/>
            <a:ext cx="3114675" cy="72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Coefficient shrunk to zero</a:t>
            </a:r>
            <a:endParaRPr lang="en-US" sz="135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a direct linear predictor when DiaBP is included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1024" y="282298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Diagnostics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579329" y="1539041"/>
            <a:ext cx="4136350" cy="3007043"/>
          </a:xfrm>
          <a:prstGeom prst="roundRect">
            <a:avLst>
              <a:gd name="adj" fmla="val 4865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9329" y="1508561"/>
            <a:ext cx="4136350" cy="121920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77220" y="1168875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9391" y="1391046"/>
            <a:ext cx="296108" cy="2961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6626" y="215602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Homoscedasticity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6626" y="2689541"/>
            <a:ext cx="358175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Residuals vs. Fitted plot shows random scatter (no funnel shape), validating linear assumptions.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62496" y="1539041"/>
            <a:ext cx="4136350" cy="3007043"/>
          </a:xfrm>
          <a:prstGeom prst="roundRect">
            <a:avLst>
              <a:gd name="adj" fmla="val 4865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62496" y="1508561"/>
            <a:ext cx="4136350" cy="121920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60387" y="1168875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2558" y="1391046"/>
            <a:ext cx="296108" cy="2961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9793" y="215602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Multicollinearity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239793" y="2689541"/>
            <a:ext cx="358175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 Variance Inflation Factors (VIF) are &lt; 1.3, well below the threshold of 5.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9345663" y="1539041"/>
            <a:ext cx="4136350" cy="3007043"/>
          </a:xfrm>
          <a:prstGeom prst="roundRect">
            <a:avLst>
              <a:gd name="adj" fmla="val 4865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345663" y="1508561"/>
            <a:ext cx="4136350" cy="121920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1043554" y="1168875"/>
            <a:ext cx="740450" cy="740450"/>
          </a:xfrm>
          <a:prstGeom prst="roundRect">
            <a:avLst>
              <a:gd name="adj" fmla="val 12349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5725" y="1391046"/>
            <a:ext cx="296108" cy="2961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22960" y="215602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9622960" y="2689541"/>
            <a:ext cx="358175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Regression coefficients are stable, ensuring reliable statistical inference.</a:t>
            </a:r>
            <a:endParaRPr lang="en-US" sz="1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6759BC-BD2A-658A-30F6-5E3D2161A6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493" y="4546084"/>
            <a:ext cx="6618821" cy="34759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203828C-22F2-95EB-46DE-76F496DF46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1" y="4546084"/>
            <a:ext cx="3928438" cy="3475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6224" y="502639"/>
            <a:ext cx="4739997" cy="59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Final Conclusion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276224" y="2167938"/>
            <a:ext cx="6810375" cy="1946862"/>
          </a:xfrm>
          <a:prstGeom prst="roundRect">
            <a:avLst>
              <a:gd name="adj" fmla="val 503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99410" y="2390286"/>
            <a:ext cx="2747867" cy="40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Risks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99409" y="3201219"/>
            <a:ext cx="6353157" cy="73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 and Systolic Blood Pressure are identified as the dominant drivers of 10-Year Coronary Heart Disease risk.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00924" y="2167938"/>
            <a:ext cx="6810375" cy="1946862"/>
          </a:xfrm>
          <a:prstGeom prst="roundRect">
            <a:avLst>
              <a:gd name="adj" fmla="val 503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24111" y="2365105"/>
            <a:ext cx="2747867" cy="40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Socioeconomic Link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624110" y="3155669"/>
            <a:ext cx="6353157" cy="110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Lower educational attainment shows a clear statistical link to higher BMI, highlighting a crucial target for public health interventions.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276224" y="4481024"/>
            <a:ext cx="6810375" cy="1946862"/>
          </a:xfrm>
          <a:prstGeom prst="roundRect">
            <a:avLst>
              <a:gd name="adj" fmla="val 503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9409" y="4670623"/>
            <a:ext cx="2747867" cy="40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Behavioral Impact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99410" y="5362352"/>
            <a:ext cx="6353157" cy="73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Smoking significantly elevates heart rate and is confirmed as a critical independent risk factor for CHD.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400924" y="4481024"/>
            <a:ext cx="6810375" cy="1986187"/>
          </a:xfrm>
          <a:prstGeom prst="roundRect">
            <a:avLst>
              <a:gd name="adj" fmla="val 5034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32327" y="4684791"/>
            <a:ext cx="2747867" cy="40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Analysis Summary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624109" y="5362352"/>
            <a:ext cx="6353157" cy="1104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comprehensive analysis successfully quantifies key cardiovascular risk factors using robust statistical inference methods, providing actionable insights for prevention.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658</Words>
  <Application>Microsoft Office PowerPoint</Application>
  <PresentationFormat>Custom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Merriweather Light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Abolfazl Ghandi</cp:lastModifiedBy>
  <cp:revision>19</cp:revision>
  <dcterms:created xsi:type="dcterms:W3CDTF">2026-02-21T08:27:02Z</dcterms:created>
  <dcterms:modified xsi:type="dcterms:W3CDTF">2026-02-21T13:28:41Z</dcterms:modified>
</cp:coreProperties>
</file>