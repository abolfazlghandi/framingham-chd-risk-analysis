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4630400" cy="8229600"/>
  <p:notesSz cx="8229600" cy="14630400"/>
  <p:embeddedFontLst>
    <p:embeddedFont>
      <p:font typeface="Merriweather" panose="00000500000000000000" pitchFamily="2" charset="0"/>
      <p:regular r:id="rId15"/>
      <p:bold r:id="rId16"/>
    </p:embeddedFont>
    <p:embeddedFont>
      <p:font typeface="Merriweather Light" panose="00000400000000000000" pitchFamily="2" charset="0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0" d="100"/>
          <a:sy n="80" d="100"/>
        </p:scale>
        <p:origin x="139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37021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9151A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9151A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9151A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9151A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9151A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9151A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9151A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9151A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9151A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9151A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9151A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9151A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1.svg"/><Relationship Id="rId5" Type="http://schemas.openxmlformats.org/officeDocument/2006/relationships/image" Target="../media/image20.svg"/><Relationship Id="rId4" Type="http://schemas.openxmlformats.org/officeDocument/2006/relationships/image" Target="../media/image19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6.svg"/><Relationship Id="rId5" Type="http://schemas.openxmlformats.org/officeDocument/2006/relationships/image" Target="../media/image25.svg"/><Relationship Id="rId4" Type="http://schemas.openxmlformats.org/officeDocument/2006/relationships/image" Target="../media/image24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0.png"/><Relationship Id="rId5" Type="http://schemas.openxmlformats.org/officeDocument/2006/relationships/image" Target="../media/image29.svg"/><Relationship Id="rId4" Type="http://schemas.openxmlformats.org/officeDocument/2006/relationships/image" Target="../media/image28.sv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871662" y="1809839"/>
            <a:ext cx="10677525" cy="931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050"/>
              </a:lnSpc>
              <a:buNone/>
            </a:pPr>
            <a:r>
              <a:rPr lang="en-US" sz="4800" dirty="0">
                <a:solidFill>
                  <a:srgbClr val="F5F0F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Framingham Heart Study Analysis</a:t>
            </a:r>
            <a:endParaRPr lang="en-US" sz="4800" dirty="0"/>
          </a:p>
        </p:txBody>
      </p:sp>
      <p:sp>
        <p:nvSpPr>
          <p:cNvPr id="4" name="Text 1"/>
          <p:cNvSpPr/>
          <p:nvPr/>
        </p:nvSpPr>
        <p:spPr>
          <a:xfrm>
            <a:off x="2368748" y="2855581"/>
            <a:ext cx="9127927" cy="547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4459481" y="3821773"/>
            <a:ext cx="4946451" cy="1196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8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Presenter: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3200" b="1" dirty="0">
                <a:solidFill>
                  <a:srgbClr val="E2E6E9"/>
                </a:solidFill>
                <a:latin typeface="Merriweather" pitchFamily="34" charset="0"/>
              </a:rPr>
              <a:t>Abolfazl Ghandi</a:t>
            </a:r>
            <a:endParaRPr lang="en-US" sz="3200" b="1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B979541-A7AA-E044-FAD4-E8B2936751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304" y="325652"/>
            <a:ext cx="1180222" cy="118022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C818636-0C4A-C17F-D363-A67030F04A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33703" y="215563"/>
            <a:ext cx="1679913" cy="129452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F54650F-BCFB-F14E-86D8-85D99B50E20C}"/>
              </a:ext>
            </a:extLst>
          </p:cNvPr>
          <p:cNvSpPr txBox="1"/>
          <p:nvPr/>
        </p:nvSpPr>
        <p:spPr>
          <a:xfrm>
            <a:off x="6130244" y="7480816"/>
            <a:ext cx="1604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Merriweather" panose="00000500000000000000" pitchFamily="2" charset="0"/>
              </a:rPr>
              <a:t>Winter 2026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57213" y="498277"/>
            <a:ext cx="6527840" cy="5144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050"/>
              </a:lnSpc>
              <a:buNone/>
            </a:pPr>
            <a:r>
              <a:rPr lang="en-US" sz="4400" dirty="0">
                <a:solidFill>
                  <a:srgbClr val="F5F0F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Project Overview &amp; Methodology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557213" y="1625084"/>
            <a:ext cx="164544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dirty="0">
                <a:solidFill>
                  <a:srgbClr val="E2E6E9"/>
                </a:solidFill>
                <a:latin typeface="Merriweather Light" pitchFamily="34" charset="0"/>
                <a:ea typeface="Merriweather Light" pitchFamily="34" charset="-122"/>
                <a:cs typeface="Merriweather Light" pitchFamily="34" charset="-120"/>
              </a:rPr>
              <a:t>01</a:t>
            </a:r>
            <a:endParaRPr lang="en-US" dirty="0"/>
          </a:p>
        </p:txBody>
      </p:sp>
      <p:sp>
        <p:nvSpPr>
          <p:cNvPr id="5" name="Shape 2"/>
          <p:cNvSpPr/>
          <p:nvPr/>
        </p:nvSpPr>
        <p:spPr>
          <a:xfrm>
            <a:off x="557213" y="1881902"/>
            <a:ext cx="7991475" cy="22860"/>
          </a:xfrm>
          <a:prstGeom prst="rect">
            <a:avLst/>
          </a:prstGeom>
          <a:solidFill>
            <a:srgbClr val="609DFF"/>
          </a:solidFill>
          <a:ln/>
        </p:spPr>
        <p:txBody>
          <a:bodyPr/>
          <a:lstStyle/>
          <a:p>
            <a:endParaRPr lang="en-US" sz="2800"/>
          </a:p>
        </p:txBody>
      </p:sp>
      <p:sp>
        <p:nvSpPr>
          <p:cNvPr id="6" name="Text 3"/>
          <p:cNvSpPr/>
          <p:nvPr/>
        </p:nvSpPr>
        <p:spPr>
          <a:xfrm>
            <a:off x="557213" y="2009894"/>
            <a:ext cx="2058114" cy="2572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24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Objective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57213" y="2416075"/>
            <a:ext cx="7991475" cy="2195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Identify and quantify risk factors associated with 10-year coronary heart disease risk</a:t>
            </a: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557211" y="3154441"/>
            <a:ext cx="164544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dirty="0">
                <a:solidFill>
                  <a:srgbClr val="E2E6E9"/>
                </a:solidFill>
                <a:latin typeface="Merriweather Light" pitchFamily="34" charset="0"/>
                <a:ea typeface="Merriweather Light" pitchFamily="34" charset="-122"/>
                <a:cs typeface="Merriweather Light" pitchFamily="34" charset="-120"/>
              </a:rPr>
              <a:t>02</a:t>
            </a:r>
            <a:endParaRPr lang="en-US" dirty="0"/>
          </a:p>
        </p:txBody>
      </p:sp>
      <p:sp>
        <p:nvSpPr>
          <p:cNvPr id="9" name="Shape 6"/>
          <p:cNvSpPr/>
          <p:nvPr/>
        </p:nvSpPr>
        <p:spPr>
          <a:xfrm>
            <a:off x="557211" y="3426023"/>
            <a:ext cx="7991475" cy="22860"/>
          </a:xfrm>
          <a:prstGeom prst="rect">
            <a:avLst/>
          </a:prstGeom>
          <a:solidFill>
            <a:srgbClr val="609DFF"/>
          </a:solidFill>
          <a:ln/>
        </p:spPr>
        <p:txBody>
          <a:bodyPr/>
          <a:lstStyle/>
          <a:p>
            <a:endParaRPr lang="en-US" sz="2800"/>
          </a:p>
        </p:txBody>
      </p:sp>
      <p:sp>
        <p:nvSpPr>
          <p:cNvPr id="10" name="Text 7"/>
          <p:cNvSpPr/>
          <p:nvPr/>
        </p:nvSpPr>
        <p:spPr>
          <a:xfrm>
            <a:off x="557211" y="3554015"/>
            <a:ext cx="2058114" cy="2572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24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Dataset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557211" y="3877151"/>
            <a:ext cx="7991475" cy="4391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Framingham Heart Study with 4,240 participants including demographic, behavioral, and medical markers</a:t>
            </a: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557213" y="6412826"/>
            <a:ext cx="164544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dirty="0">
                <a:solidFill>
                  <a:srgbClr val="E2E6E9"/>
                </a:solidFill>
                <a:latin typeface="Merriweather Light" pitchFamily="34" charset="0"/>
                <a:ea typeface="Merriweather Light" pitchFamily="34" charset="-122"/>
                <a:cs typeface="Merriweather Light" pitchFamily="34" charset="-120"/>
              </a:rPr>
              <a:t>04</a:t>
            </a:r>
            <a:endParaRPr lang="en-US" dirty="0"/>
          </a:p>
        </p:txBody>
      </p:sp>
      <p:sp>
        <p:nvSpPr>
          <p:cNvPr id="13" name="Shape 10"/>
          <p:cNvSpPr/>
          <p:nvPr/>
        </p:nvSpPr>
        <p:spPr>
          <a:xfrm>
            <a:off x="557213" y="6669644"/>
            <a:ext cx="7991475" cy="22860"/>
          </a:xfrm>
          <a:prstGeom prst="rect">
            <a:avLst/>
          </a:prstGeom>
          <a:solidFill>
            <a:srgbClr val="609DFF"/>
          </a:solidFill>
          <a:ln/>
        </p:spPr>
        <p:txBody>
          <a:bodyPr/>
          <a:lstStyle/>
          <a:p>
            <a:endParaRPr lang="en-US" sz="2800"/>
          </a:p>
        </p:txBody>
      </p:sp>
      <p:sp>
        <p:nvSpPr>
          <p:cNvPr id="14" name="Text 11"/>
          <p:cNvSpPr/>
          <p:nvPr/>
        </p:nvSpPr>
        <p:spPr>
          <a:xfrm>
            <a:off x="557213" y="6797636"/>
            <a:ext cx="2058114" cy="2572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24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Analysis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557213" y="7120771"/>
            <a:ext cx="7991475" cy="2195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Data visualization, hypothesis testing, and regression modeling using Logistic and Lasso regression</a:t>
            </a: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557213" y="4971752"/>
            <a:ext cx="164544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dirty="0">
                <a:solidFill>
                  <a:srgbClr val="E2E6E9"/>
                </a:solidFill>
                <a:latin typeface="Merriweather Light" pitchFamily="34" charset="0"/>
                <a:ea typeface="Merriweather Light" pitchFamily="34" charset="-122"/>
                <a:cs typeface="Merriweather Light" pitchFamily="34" charset="-120"/>
              </a:rPr>
              <a:t>03</a:t>
            </a:r>
            <a:endParaRPr lang="en-US" dirty="0"/>
          </a:p>
        </p:txBody>
      </p:sp>
      <p:sp>
        <p:nvSpPr>
          <p:cNvPr id="17" name="Shape 14"/>
          <p:cNvSpPr/>
          <p:nvPr/>
        </p:nvSpPr>
        <p:spPr>
          <a:xfrm>
            <a:off x="557213" y="5228570"/>
            <a:ext cx="7991475" cy="22860"/>
          </a:xfrm>
          <a:prstGeom prst="rect">
            <a:avLst/>
          </a:prstGeom>
          <a:solidFill>
            <a:srgbClr val="609DFF"/>
          </a:solidFill>
          <a:ln/>
        </p:spPr>
        <p:txBody>
          <a:bodyPr/>
          <a:lstStyle/>
          <a:p>
            <a:endParaRPr lang="en-US" sz="2800"/>
          </a:p>
        </p:txBody>
      </p:sp>
      <p:sp>
        <p:nvSpPr>
          <p:cNvPr id="18" name="Text 15"/>
          <p:cNvSpPr/>
          <p:nvPr/>
        </p:nvSpPr>
        <p:spPr>
          <a:xfrm>
            <a:off x="557213" y="5356562"/>
            <a:ext cx="2058114" cy="2572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24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Data Handling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557213" y="5679698"/>
            <a:ext cx="7991475" cy="2195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Missing values imputed: Glucose (mean), Education (mode) to preserve sample size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738979" y="444520"/>
            <a:ext cx="7152442" cy="5589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00" dirty="0">
                <a:solidFill>
                  <a:srgbClr val="F5F0F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Demographics &amp; Class Imbalance</a:t>
            </a:r>
            <a:endParaRPr lang="en-US" sz="3500" dirty="0"/>
          </a:p>
        </p:txBody>
      </p:sp>
      <p:sp>
        <p:nvSpPr>
          <p:cNvPr id="3" name="Shape 1"/>
          <p:cNvSpPr/>
          <p:nvPr/>
        </p:nvSpPr>
        <p:spPr>
          <a:xfrm>
            <a:off x="467517" y="1753434"/>
            <a:ext cx="4229734" cy="1377076"/>
          </a:xfrm>
          <a:prstGeom prst="roundRect">
            <a:avLst>
              <a:gd name="adj" fmla="val 3668"/>
            </a:avLst>
          </a:prstGeom>
          <a:solidFill>
            <a:srgbClr val="003180"/>
          </a:solidFill>
          <a:ln w="7620">
            <a:solidFill>
              <a:srgbClr val="194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53968" y="1939885"/>
            <a:ext cx="3542051" cy="279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Age Distribution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653967" y="2348866"/>
            <a:ext cx="4043283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High concentration of middle-aged individuals representing at-risk demographic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7517" y="3890248"/>
            <a:ext cx="4229734" cy="1377077"/>
          </a:xfrm>
          <a:prstGeom prst="roundRect">
            <a:avLst>
              <a:gd name="adj" fmla="val 3668"/>
            </a:avLst>
          </a:prstGeom>
          <a:solidFill>
            <a:srgbClr val="003180"/>
          </a:solidFill>
          <a:ln w="7620">
            <a:solidFill>
              <a:srgbClr val="194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53968" y="4126765"/>
            <a:ext cx="1920716" cy="279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BMI Profile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653968" y="4525624"/>
            <a:ext cx="4043283" cy="913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Right-skewed distribution with significant portion in overweight/obese range (BMI &gt; 25)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7517" y="6027064"/>
            <a:ext cx="4229734" cy="1377077"/>
          </a:xfrm>
          <a:prstGeom prst="roundRect">
            <a:avLst>
              <a:gd name="adj" fmla="val 3668"/>
            </a:avLst>
          </a:prstGeom>
          <a:solidFill>
            <a:srgbClr val="003180"/>
          </a:solidFill>
          <a:ln w="7620">
            <a:solidFill>
              <a:srgbClr val="194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53969" y="6213516"/>
            <a:ext cx="3542086" cy="5588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Outcome Imbalance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653967" y="6630471"/>
            <a:ext cx="3772078" cy="730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Participants without CHD vastly outnumber those who developed it (0 vs 1)</a:t>
            </a:r>
            <a:endParaRPr lang="en-US" sz="14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2841AF0-990B-1E9D-024E-DBC364A02F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6876" y="1597341"/>
            <a:ext cx="8532494" cy="6089333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84527" y="322659"/>
            <a:ext cx="12283321" cy="7036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solidFill>
                  <a:srgbClr val="F5F0F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Bivariate Analysis: Blood Pressure &amp; Smoking</a:t>
            </a:r>
            <a:endParaRPr lang="en-US" sz="4400" dirty="0"/>
          </a:p>
        </p:txBody>
      </p:sp>
      <p:sp>
        <p:nvSpPr>
          <p:cNvPr id="4" name="Shape 1"/>
          <p:cNvSpPr/>
          <p:nvPr/>
        </p:nvSpPr>
        <p:spPr>
          <a:xfrm>
            <a:off x="728900" y="5507474"/>
            <a:ext cx="4214574" cy="2392323"/>
          </a:xfrm>
          <a:prstGeom prst="roundRect">
            <a:avLst>
              <a:gd name="adj" fmla="val 4683"/>
            </a:avLst>
          </a:prstGeom>
          <a:solidFill>
            <a:srgbClr val="09151A">
              <a:alpha val="95000"/>
            </a:srgbClr>
          </a:solidFill>
          <a:ln w="30480">
            <a:solidFill>
              <a:srgbClr val="194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984527" y="5763101"/>
            <a:ext cx="2814280" cy="3518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Correlation Pattern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984527" y="6238042"/>
            <a:ext cx="3703320" cy="1032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Strong positive linear relationship between Systolic and Diastolic BP (collinearity expected)</a:t>
            </a:r>
            <a:endParaRPr lang="en-US" sz="1750" dirty="0"/>
          </a:p>
        </p:txBody>
      </p:sp>
      <p:sp>
        <p:nvSpPr>
          <p:cNvPr id="7" name="Shape 4"/>
          <p:cNvSpPr/>
          <p:nvPr/>
        </p:nvSpPr>
        <p:spPr>
          <a:xfrm>
            <a:off x="5148738" y="5507474"/>
            <a:ext cx="4214693" cy="2392323"/>
          </a:xfrm>
          <a:prstGeom prst="roundRect">
            <a:avLst>
              <a:gd name="adj" fmla="val 4683"/>
            </a:avLst>
          </a:prstGeom>
          <a:solidFill>
            <a:srgbClr val="09151A">
              <a:alpha val="95000"/>
            </a:srgbClr>
          </a:solidFill>
          <a:ln w="30480">
            <a:solidFill>
              <a:srgbClr val="194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404365" y="5763101"/>
            <a:ext cx="2814280" cy="3518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Smoking Effect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5404365" y="6238042"/>
            <a:ext cx="3703439" cy="1032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Median blood pressure is similar between smokers and non-smokers</a:t>
            </a:r>
            <a:endParaRPr lang="en-US" sz="1750" dirty="0"/>
          </a:p>
        </p:txBody>
      </p:sp>
      <p:sp>
        <p:nvSpPr>
          <p:cNvPr id="10" name="Shape 7"/>
          <p:cNvSpPr/>
          <p:nvPr/>
        </p:nvSpPr>
        <p:spPr>
          <a:xfrm>
            <a:off x="9568695" y="5507474"/>
            <a:ext cx="4214693" cy="2392323"/>
          </a:xfrm>
          <a:prstGeom prst="roundRect">
            <a:avLst>
              <a:gd name="adj" fmla="val 4683"/>
            </a:avLst>
          </a:prstGeom>
          <a:solidFill>
            <a:srgbClr val="09151A">
              <a:alpha val="95000"/>
            </a:srgbClr>
          </a:solidFill>
          <a:ln w="30480">
            <a:solidFill>
              <a:srgbClr val="194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9824322" y="5763101"/>
            <a:ext cx="2814280" cy="3518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Outlier Pattern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9824322" y="6238042"/>
            <a:ext cx="3703439" cy="1032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Smokers exhibit wider spread of outliers, prompting further statistical testing on heart rate</a:t>
            </a:r>
            <a:endParaRPr lang="en-US" sz="175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632B64E-4035-C3A1-7191-D7F26AEB46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243" y="1522156"/>
            <a:ext cx="13058145" cy="361217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4728" y="413622"/>
            <a:ext cx="4818817" cy="6022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700"/>
              </a:lnSpc>
              <a:buNone/>
            </a:pPr>
            <a:r>
              <a:rPr lang="en-US" sz="3750" dirty="0">
                <a:solidFill>
                  <a:srgbClr val="F5F0F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Correlation Analysis</a:t>
            </a:r>
            <a:endParaRPr lang="en-US" sz="3750" dirty="0"/>
          </a:p>
        </p:txBody>
      </p:sp>
      <p:sp>
        <p:nvSpPr>
          <p:cNvPr id="3" name="Shape 1"/>
          <p:cNvSpPr/>
          <p:nvPr/>
        </p:nvSpPr>
        <p:spPr>
          <a:xfrm>
            <a:off x="684728" y="1547337"/>
            <a:ext cx="433626" cy="433626"/>
          </a:xfrm>
          <a:prstGeom prst="roundRect">
            <a:avLst>
              <a:gd name="adj" fmla="val 18670"/>
            </a:avLst>
          </a:prstGeom>
          <a:solidFill>
            <a:srgbClr val="003180"/>
          </a:solidFill>
          <a:ln w="7620">
            <a:solidFill>
              <a:srgbClr val="194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268848" y="1613536"/>
            <a:ext cx="2409349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Blood Pressure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1268848" y="2065259"/>
            <a:ext cx="3341965" cy="5491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5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Strongest correlation found between Systolic and Diastolic BP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4728" y="2915365"/>
            <a:ext cx="433626" cy="433626"/>
          </a:xfrm>
          <a:prstGeom prst="roundRect">
            <a:avLst>
              <a:gd name="adj" fmla="val 18670"/>
            </a:avLst>
          </a:prstGeom>
          <a:solidFill>
            <a:srgbClr val="003180"/>
          </a:solidFill>
          <a:ln w="7620">
            <a:solidFill>
              <a:srgbClr val="194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268848" y="2981564"/>
            <a:ext cx="2409349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Age Association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1268848" y="3433287"/>
            <a:ext cx="3341965" cy="823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5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Moderate positive correlation with blood pressure (consistent with arterial stiffening)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84728" y="4557951"/>
            <a:ext cx="433626" cy="433626"/>
          </a:xfrm>
          <a:prstGeom prst="roundRect">
            <a:avLst>
              <a:gd name="adj" fmla="val 18670"/>
            </a:avLst>
          </a:prstGeom>
          <a:solidFill>
            <a:srgbClr val="003180"/>
          </a:solidFill>
          <a:ln w="7620">
            <a:solidFill>
              <a:srgbClr val="194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268848" y="4624150"/>
            <a:ext cx="2562106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Smoking &amp; Heart Rate</a:t>
            </a:r>
            <a:endParaRPr lang="en-US" sz="1850" dirty="0"/>
          </a:p>
        </p:txBody>
      </p:sp>
      <p:sp>
        <p:nvSpPr>
          <p:cNvPr id="11" name="Text 9"/>
          <p:cNvSpPr/>
          <p:nvPr/>
        </p:nvSpPr>
        <p:spPr>
          <a:xfrm>
            <a:off x="1268848" y="5075873"/>
            <a:ext cx="3341965" cy="823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5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Spearman's Rho shows statistically significant positive relationship (p &lt; 0.05)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82586" y="6418903"/>
            <a:ext cx="5280064" cy="979408"/>
          </a:xfrm>
          <a:prstGeom prst="roundRect">
            <a:avLst>
              <a:gd name="adj" fmla="val 8266"/>
            </a:avLst>
          </a:prstGeom>
          <a:solidFill>
            <a:srgbClr val="001D4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228" y="6696795"/>
            <a:ext cx="240863" cy="192643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308735" y="6617499"/>
            <a:ext cx="4920615" cy="5491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Physiological Effect:</a:t>
            </a:r>
            <a:r>
              <a:rPr lang="en-US" sz="1500" dirty="0">
                <a:solidFill>
                  <a:srgbClr val="FFFFFF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 Confirms nicotine acts as a sympathomimetic, increasing heart rate</a:t>
            </a:r>
            <a:endParaRPr lang="en-US" sz="15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63AAF4F-3DD0-A58C-FD38-B3F51205AA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1871" y="1015840"/>
            <a:ext cx="7863413" cy="655284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94129" y="435886"/>
            <a:ext cx="8529161" cy="5920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650"/>
              </a:lnSpc>
              <a:buNone/>
            </a:pPr>
            <a:r>
              <a:rPr lang="en-US" sz="3700" dirty="0">
                <a:solidFill>
                  <a:srgbClr val="F5F0F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Statistical Estimation &amp; Distributions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729292" y="1855053"/>
            <a:ext cx="5852517" cy="625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900"/>
              </a:lnSpc>
              <a:buNone/>
            </a:pPr>
            <a:r>
              <a:rPr lang="en-US" sz="40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≈0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471176" y="2684085"/>
            <a:ext cx="2368748" cy="2961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00"/>
              </a:lnSpc>
              <a:buNone/>
            </a:pPr>
            <a:r>
              <a:rPr lang="en-US" sz="18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BMI Normality Test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729292" y="3067467"/>
            <a:ext cx="5852517" cy="268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4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Shapiro-Wilk test rejects normality; distribution is right-skewed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40014" y="4526517"/>
            <a:ext cx="4880670" cy="625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900"/>
              </a:lnSpc>
              <a:buNone/>
            </a:pPr>
            <a:r>
              <a:rPr lang="en-US" sz="28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[235.35, 238.05]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2119161" y="5355549"/>
            <a:ext cx="2368748" cy="2961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00"/>
              </a:lnSpc>
              <a:buNone/>
            </a:pPr>
            <a:r>
              <a:rPr lang="en-US" sz="18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Cholesterol CI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377277" y="5738931"/>
            <a:ext cx="5852517" cy="268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4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95% Confidence Interval for mean cholesterol (mg/dL)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840014" y="6343529"/>
            <a:ext cx="2368748" cy="2961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dirty="0">
                <a:solidFill>
                  <a:srgbClr val="F5F0F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Clinical Context</a:t>
            </a:r>
            <a:endParaRPr lang="en-US" sz="1850" dirty="0"/>
          </a:p>
        </p:txBody>
      </p:sp>
      <p:sp>
        <p:nvSpPr>
          <p:cNvPr id="11" name="Text 8"/>
          <p:cNvSpPr/>
          <p:nvPr/>
        </p:nvSpPr>
        <p:spPr>
          <a:xfrm>
            <a:off x="840014" y="6785013"/>
            <a:ext cx="4289049" cy="8040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The population baseline is elevated compared to the desirable level (&lt;200 mg/dL)</a:t>
            </a:r>
            <a:endParaRPr lang="en-US" sz="145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CC9929B-1560-289F-8D69-8E3BDF48E0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6923" y="1231699"/>
            <a:ext cx="7306751" cy="304454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E27A6B8-2CCA-42F8-D0D7-E22FF5E083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6923" y="4579980"/>
            <a:ext cx="7306751" cy="304454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3798" y="578287"/>
            <a:ext cx="8086844" cy="7712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050"/>
              </a:lnSpc>
              <a:buNone/>
            </a:pPr>
            <a:r>
              <a:rPr lang="en-US" sz="4850" dirty="0">
                <a:solidFill>
                  <a:srgbClr val="F5F0F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Hypothesis Testing Results</a:t>
            </a:r>
            <a:endParaRPr lang="en-US" sz="48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798" y="2757607"/>
            <a:ext cx="4300895" cy="98726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10615" y="3991689"/>
            <a:ext cx="3085386" cy="3855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T-Test (Heart Rate)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1110615" y="4525208"/>
            <a:ext cx="3807262" cy="15792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1900" b="1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Reject Null Hypothesis</a:t>
            </a:r>
            <a:r>
              <a:rPr lang="en-US" sz="19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p = 2.21e-5</a:t>
            </a:r>
            <a:endParaRPr lang="en-US" sz="1900" dirty="0"/>
          </a:p>
          <a:p>
            <a:pPr marL="0" indent="0" algn="l">
              <a:lnSpc>
                <a:spcPts val="3100"/>
              </a:lnSpc>
              <a:buNone/>
            </a:pPr>
            <a:r>
              <a:rPr lang="en-US" sz="19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Smokers have significantly higher heart rates</a:t>
            </a:r>
            <a:endParaRPr lang="en-US" sz="19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4693" y="2757607"/>
            <a:ext cx="4300895" cy="98726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411510" y="3991689"/>
            <a:ext cx="3807262" cy="7710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Mann-Whitney U (Glucose)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5411510" y="4910733"/>
            <a:ext cx="3807262" cy="15792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1900" b="1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Reject Null Hypothesis</a:t>
            </a:r>
            <a:r>
              <a:rPr lang="en-US" sz="19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p ≈ 0</a:t>
            </a:r>
            <a:endParaRPr lang="en-US" sz="1900" dirty="0"/>
          </a:p>
          <a:p>
            <a:pPr marL="0" indent="0" algn="l">
              <a:lnSpc>
                <a:spcPts val="3100"/>
              </a:lnSpc>
              <a:buNone/>
            </a:pPr>
            <a:r>
              <a:rPr lang="en-US" sz="19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Glucose levels differ significantly by diabetes status</a:t>
            </a:r>
            <a:endParaRPr lang="en-US" sz="19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5588" y="2757607"/>
            <a:ext cx="4301014" cy="98726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712404" y="3991689"/>
            <a:ext cx="3085386" cy="3855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Power Analysis</a:t>
            </a:r>
            <a:endParaRPr lang="en-US" sz="2400" dirty="0"/>
          </a:p>
        </p:txBody>
      </p:sp>
      <p:sp>
        <p:nvSpPr>
          <p:cNvPr id="11" name="Text 6"/>
          <p:cNvSpPr/>
          <p:nvPr/>
        </p:nvSpPr>
        <p:spPr>
          <a:xfrm>
            <a:off x="9712404" y="4525208"/>
            <a:ext cx="3807381" cy="1184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19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Sample size (N &gt; 4000) provides &gt;80% power to detect even small effect sizes</a:t>
            </a:r>
            <a:endParaRPr lang="en-US" sz="1900" dirty="0"/>
          </a:p>
        </p:txBody>
      </p:sp>
    </p:spTree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80720" y="458281"/>
            <a:ext cx="7493913" cy="5622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00" dirty="0">
                <a:solidFill>
                  <a:srgbClr val="F5F0F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ANOVA: Socioeconomics &amp; Obesity</a:t>
            </a:r>
            <a:endParaRPr lang="en-US" sz="3500" dirty="0"/>
          </a:p>
        </p:txBody>
      </p:sp>
      <p:sp>
        <p:nvSpPr>
          <p:cNvPr id="3" name="Shape 1"/>
          <p:cNvSpPr/>
          <p:nvPr/>
        </p:nvSpPr>
        <p:spPr>
          <a:xfrm>
            <a:off x="125135" y="3087410"/>
            <a:ext cx="2306717" cy="2701647"/>
          </a:xfrm>
          <a:prstGeom prst="roundRect">
            <a:avLst>
              <a:gd name="adj" fmla="val 3276"/>
            </a:avLst>
          </a:prstGeom>
          <a:solidFill>
            <a:srgbClr val="003180"/>
          </a:solidFill>
          <a:ln w="7620">
            <a:solidFill>
              <a:srgbClr val="194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12658" y="3274934"/>
            <a:ext cx="539710" cy="539710"/>
          </a:xfrm>
          <a:prstGeom prst="roundRect">
            <a:avLst>
              <a:gd name="adj" fmla="val 16940738"/>
            </a:avLst>
          </a:prstGeom>
          <a:solidFill>
            <a:srgbClr val="609D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1010" y="3423285"/>
            <a:ext cx="242888" cy="2428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12658" y="3945732"/>
            <a:ext cx="1931670" cy="2811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Test Design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312658" y="4357926"/>
            <a:ext cx="1931670" cy="746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4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Comparing mean BMI across 4 Education Levels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570559" y="3086933"/>
            <a:ext cx="2306836" cy="2701647"/>
          </a:xfrm>
          <a:prstGeom prst="roundRect">
            <a:avLst>
              <a:gd name="adj" fmla="val 3276"/>
            </a:avLst>
          </a:prstGeom>
          <a:solidFill>
            <a:srgbClr val="003180"/>
          </a:solidFill>
          <a:ln w="7620">
            <a:solidFill>
              <a:srgbClr val="194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2758083" y="3274457"/>
            <a:ext cx="539710" cy="539710"/>
          </a:xfrm>
          <a:prstGeom prst="roundRect">
            <a:avLst>
              <a:gd name="adj" fmla="val 16940738"/>
            </a:avLst>
          </a:prstGeom>
          <a:solidFill>
            <a:srgbClr val="609D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906435" y="3422808"/>
            <a:ext cx="242888" cy="2428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758083" y="3945255"/>
            <a:ext cx="1931789" cy="2811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Result</a:t>
            </a:r>
            <a:endParaRPr lang="en-US" sz="1750" dirty="0"/>
          </a:p>
        </p:txBody>
      </p:sp>
      <p:sp>
        <p:nvSpPr>
          <p:cNvPr id="12" name="Text 8"/>
          <p:cNvSpPr/>
          <p:nvPr/>
        </p:nvSpPr>
        <p:spPr>
          <a:xfrm>
            <a:off x="2758083" y="4357449"/>
            <a:ext cx="1931789" cy="497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4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Significant difference found (F=38.66, p ≈ 0)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008483" y="3086933"/>
            <a:ext cx="2306717" cy="2701647"/>
          </a:xfrm>
          <a:prstGeom prst="roundRect">
            <a:avLst>
              <a:gd name="adj" fmla="val 3276"/>
            </a:avLst>
          </a:prstGeom>
          <a:solidFill>
            <a:srgbClr val="003180"/>
          </a:solidFill>
          <a:ln w="7620">
            <a:solidFill>
              <a:srgbClr val="194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5196007" y="3274457"/>
            <a:ext cx="539710" cy="539710"/>
          </a:xfrm>
          <a:prstGeom prst="roundRect">
            <a:avLst>
              <a:gd name="adj" fmla="val 16940738"/>
            </a:avLst>
          </a:prstGeom>
          <a:solidFill>
            <a:srgbClr val="609D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44358" y="3422808"/>
            <a:ext cx="242888" cy="24288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196007" y="3945255"/>
            <a:ext cx="1931670" cy="2811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Tukey's HSD</a:t>
            </a:r>
            <a:endParaRPr lang="en-US" sz="1750" dirty="0"/>
          </a:p>
        </p:txBody>
      </p:sp>
      <p:sp>
        <p:nvSpPr>
          <p:cNvPr id="17" name="Text 12"/>
          <p:cNvSpPr/>
          <p:nvPr/>
        </p:nvSpPr>
        <p:spPr>
          <a:xfrm>
            <a:off x="5196007" y="4357449"/>
            <a:ext cx="1931670" cy="1243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4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Group 1 (Lowest Education) has significantly higher BMI than all other groups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2070735" y="6414373"/>
            <a:ext cx="3664982" cy="1130022"/>
          </a:xfrm>
          <a:prstGeom prst="roundRect">
            <a:avLst>
              <a:gd name="adj" fmla="val 6687"/>
            </a:avLst>
          </a:prstGeom>
          <a:solidFill>
            <a:srgbClr val="001D4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0639" y="6664523"/>
            <a:ext cx="224909" cy="179903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2655451" y="6590347"/>
            <a:ext cx="2900363" cy="746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Conclusion:</a:t>
            </a:r>
            <a:r>
              <a:rPr lang="en-US" sz="1400" dirty="0">
                <a:solidFill>
                  <a:srgbClr val="FFFFFF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 Lower educational attainment is a strong indicator for obesity risk in this cohort</a:t>
            </a:r>
            <a:endParaRPr lang="en-US" sz="1400" dirty="0"/>
          </a:p>
        </p:txBody>
      </p:sp>
      <p:pic>
        <p:nvPicPr>
          <p:cNvPr id="22" name="table">
            <a:extLst>
              <a:ext uri="{FF2B5EF4-FFF2-40B4-BE49-F238E27FC236}">
                <a16:creationId xmlns:a16="http://schemas.microsoft.com/office/drawing/2014/main" id="{891F21F9-7FCB-F9A6-46C1-8BC43E0282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83917" y="2197476"/>
            <a:ext cx="6761698" cy="4381024"/>
          </a:xfrm>
          <a:prstGeom prst="rect">
            <a:avLst/>
          </a:prstGeom>
        </p:spPr>
      </p:pic>
    </p:spTree>
  </p:cSld>
  <p:clrMapOvr>
    <a:masterClrMapping/>
  </p:clrMapOvr>
  <p:transition spd="slow">
    <p:randomBar dir="vert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69744" y="493633"/>
            <a:ext cx="6584513" cy="4744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700"/>
              </a:lnSpc>
              <a:buNone/>
            </a:pPr>
            <a:r>
              <a:rPr lang="en-US" sz="2950" dirty="0">
                <a:solidFill>
                  <a:srgbClr val="F5F0F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Logistic Regression: CHD Prediction</a:t>
            </a:r>
            <a:endParaRPr lang="en-US" sz="2950" dirty="0"/>
          </a:p>
        </p:txBody>
      </p:sp>
      <p:sp>
        <p:nvSpPr>
          <p:cNvPr id="3" name="Text 1"/>
          <p:cNvSpPr/>
          <p:nvPr/>
        </p:nvSpPr>
        <p:spPr>
          <a:xfrm>
            <a:off x="6381512" y="2448639"/>
            <a:ext cx="1867138" cy="3794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950"/>
              </a:lnSpc>
              <a:buNone/>
            </a:pPr>
            <a:r>
              <a:rPr lang="en-US" sz="29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85.14%</a:t>
            </a:r>
            <a:endParaRPr lang="en-US" sz="29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6605" y="1499949"/>
            <a:ext cx="2277070" cy="22770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366391" y="3908227"/>
            <a:ext cx="1897618" cy="2371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850"/>
              </a:lnSpc>
              <a:buNone/>
            </a:pPr>
            <a:r>
              <a:rPr lang="en-US" sz="14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Model Accuracy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2553891" y="4201358"/>
            <a:ext cx="9522619" cy="1960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1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In predicting 10-Year CHD risk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2553891" y="4502468"/>
            <a:ext cx="4714637" cy="1416368"/>
          </a:xfrm>
          <a:prstGeom prst="roundRect">
            <a:avLst>
              <a:gd name="adj" fmla="val 4502"/>
            </a:avLst>
          </a:prstGeom>
          <a:solidFill>
            <a:srgbClr val="09151A">
              <a:alpha val="95000"/>
            </a:srgbClr>
          </a:solidFill>
          <a:ln w="15240">
            <a:solidFill>
              <a:srgbClr val="194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2569131" y="4517708"/>
            <a:ext cx="4684157" cy="455414"/>
          </a:xfrm>
          <a:prstGeom prst="roundRect">
            <a:avLst>
              <a:gd name="adj" fmla="val 9985"/>
            </a:avLst>
          </a:prstGeom>
          <a:solidFill>
            <a:srgbClr val="00318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97385" y="4627721"/>
            <a:ext cx="227647" cy="22764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720935" y="5066467"/>
            <a:ext cx="1897618" cy="2371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4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Top Predictor: Age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2720935" y="5359598"/>
            <a:ext cx="4380548" cy="39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β = 0.57</a:t>
            </a:r>
            <a:endParaRPr lang="en-US" sz="115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1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Strongest driver of risk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7361873" y="4502468"/>
            <a:ext cx="4714637" cy="1416368"/>
          </a:xfrm>
          <a:prstGeom prst="roundRect">
            <a:avLst>
              <a:gd name="adj" fmla="val 4502"/>
            </a:avLst>
          </a:prstGeom>
          <a:solidFill>
            <a:srgbClr val="09151A">
              <a:alpha val="95000"/>
            </a:srgbClr>
          </a:solidFill>
          <a:ln w="15240">
            <a:solidFill>
              <a:srgbClr val="194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7377113" y="4517708"/>
            <a:ext cx="4684157" cy="455414"/>
          </a:xfrm>
          <a:prstGeom prst="roundRect">
            <a:avLst>
              <a:gd name="adj" fmla="val 9985"/>
            </a:avLst>
          </a:prstGeom>
          <a:solidFill>
            <a:srgbClr val="00318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605367" y="4627721"/>
            <a:ext cx="227647" cy="22764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528917" y="5066467"/>
            <a:ext cx="1897618" cy="2371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4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Key Predictor: SysBP</a:t>
            </a:r>
            <a:endParaRPr lang="en-US" sz="1450" dirty="0"/>
          </a:p>
        </p:txBody>
      </p:sp>
      <p:sp>
        <p:nvSpPr>
          <p:cNvPr id="16" name="Text 11"/>
          <p:cNvSpPr/>
          <p:nvPr/>
        </p:nvSpPr>
        <p:spPr>
          <a:xfrm>
            <a:off x="7528917" y="5359598"/>
            <a:ext cx="4380548" cy="39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β = 0.39</a:t>
            </a:r>
            <a:endParaRPr lang="en-US" sz="115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1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Major independent risk factor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2553891" y="6012180"/>
            <a:ext cx="4714637" cy="1416368"/>
          </a:xfrm>
          <a:prstGeom prst="roundRect">
            <a:avLst>
              <a:gd name="adj" fmla="val 4502"/>
            </a:avLst>
          </a:prstGeom>
          <a:solidFill>
            <a:srgbClr val="09151A">
              <a:alpha val="95000"/>
            </a:srgbClr>
          </a:solidFill>
          <a:ln w="15240">
            <a:solidFill>
              <a:srgbClr val="194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2569131" y="6027420"/>
            <a:ext cx="4684157" cy="455414"/>
          </a:xfrm>
          <a:prstGeom prst="roundRect">
            <a:avLst>
              <a:gd name="adj" fmla="val 9985"/>
            </a:avLst>
          </a:prstGeom>
          <a:solidFill>
            <a:srgbClr val="00318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97385" y="6137434"/>
            <a:ext cx="227647" cy="22764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2720935" y="6576179"/>
            <a:ext cx="2101691" cy="2371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4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Behavioral: CigsPerDay</a:t>
            </a:r>
            <a:endParaRPr lang="en-US" sz="1450" dirty="0"/>
          </a:p>
        </p:txBody>
      </p:sp>
      <p:sp>
        <p:nvSpPr>
          <p:cNvPr id="21" name="Text 15"/>
          <p:cNvSpPr/>
          <p:nvPr/>
        </p:nvSpPr>
        <p:spPr>
          <a:xfrm>
            <a:off x="2720935" y="6869311"/>
            <a:ext cx="4380548" cy="39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β = 0.25</a:t>
            </a:r>
            <a:endParaRPr lang="en-US" sz="115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1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Quantity matters distinct from smoker status</a:t>
            </a:r>
            <a:endParaRPr lang="en-US" sz="1150" dirty="0"/>
          </a:p>
        </p:txBody>
      </p:sp>
      <p:sp>
        <p:nvSpPr>
          <p:cNvPr id="22" name="Shape 16"/>
          <p:cNvSpPr/>
          <p:nvPr/>
        </p:nvSpPr>
        <p:spPr>
          <a:xfrm>
            <a:off x="7361873" y="6012180"/>
            <a:ext cx="4714637" cy="1416368"/>
          </a:xfrm>
          <a:prstGeom prst="roundRect">
            <a:avLst>
              <a:gd name="adj" fmla="val 4502"/>
            </a:avLst>
          </a:prstGeom>
          <a:solidFill>
            <a:srgbClr val="09151A">
              <a:alpha val="95000"/>
            </a:srgbClr>
          </a:solidFill>
          <a:ln w="15240">
            <a:solidFill>
              <a:srgbClr val="194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17"/>
          <p:cNvSpPr/>
          <p:nvPr/>
        </p:nvSpPr>
        <p:spPr>
          <a:xfrm>
            <a:off x="7377113" y="6027420"/>
            <a:ext cx="4684157" cy="455414"/>
          </a:xfrm>
          <a:prstGeom prst="roundRect">
            <a:avLst>
              <a:gd name="adj" fmla="val 9985"/>
            </a:avLst>
          </a:prstGeom>
          <a:solidFill>
            <a:srgbClr val="00318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605367" y="6137434"/>
            <a:ext cx="227647" cy="22764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7528917" y="6576179"/>
            <a:ext cx="1897618" cy="2371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4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Cholesterol Note</a:t>
            </a:r>
            <a:endParaRPr lang="en-US" sz="1450" dirty="0"/>
          </a:p>
        </p:txBody>
      </p:sp>
      <p:sp>
        <p:nvSpPr>
          <p:cNvPr id="26" name="Text 19"/>
          <p:cNvSpPr/>
          <p:nvPr/>
        </p:nvSpPr>
        <p:spPr>
          <a:xfrm>
            <a:off x="7528917" y="6869311"/>
            <a:ext cx="4380548" cy="39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Showed weak predictive power when controlling for other factors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94798" y="527924"/>
            <a:ext cx="8740378" cy="551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300"/>
              </a:lnSpc>
              <a:buNone/>
            </a:pPr>
            <a:r>
              <a:rPr lang="en-US" sz="3450" dirty="0">
                <a:solidFill>
                  <a:srgbClr val="F5F0F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Lasso Regression: Determinants of SysBP</a:t>
            </a:r>
            <a:endParaRPr lang="en-US" sz="3450" dirty="0"/>
          </a:p>
        </p:txBody>
      </p:sp>
      <p:sp>
        <p:nvSpPr>
          <p:cNvPr id="3" name="Text 1"/>
          <p:cNvSpPr/>
          <p:nvPr/>
        </p:nvSpPr>
        <p:spPr>
          <a:xfrm>
            <a:off x="1781889" y="2118836"/>
            <a:ext cx="2205276" cy="275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00" dirty="0">
                <a:solidFill>
                  <a:srgbClr val="F5F0F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Methodology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781889" y="2520553"/>
            <a:ext cx="7042666" cy="2420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Identify predictors of Systolic Blood Pressure using L1 Regularization</a:t>
            </a:r>
            <a:endParaRPr lang="en-US" sz="13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1889" y="2904411"/>
            <a:ext cx="7042666" cy="3930729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262467" y="1707237"/>
            <a:ext cx="1197769" cy="501491"/>
          </a:xfrm>
          <a:prstGeom prst="roundRect">
            <a:avLst>
              <a:gd name="adj" fmla="val 14776"/>
            </a:avLst>
          </a:prstGeom>
          <a:solidFill>
            <a:srgbClr val="003180"/>
          </a:solidFill>
          <a:ln w="7620">
            <a:solidFill>
              <a:srgbClr val="194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737288" y="1833920"/>
            <a:ext cx="248007" cy="248007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9262467" y="2252782"/>
            <a:ext cx="2395657" cy="501491"/>
          </a:xfrm>
          <a:prstGeom prst="roundRect">
            <a:avLst>
              <a:gd name="adj" fmla="val 14776"/>
            </a:avLst>
          </a:prstGeom>
          <a:solidFill>
            <a:srgbClr val="003180"/>
          </a:solidFill>
          <a:ln w="7620">
            <a:solidFill>
              <a:srgbClr val="194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36292" y="2379464"/>
            <a:ext cx="248007" cy="248007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9262467" y="2798326"/>
            <a:ext cx="3593544" cy="501491"/>
          </a:xfrm>
          <a:prstGeom prst="roundRect">
            <a:avLst>
              <a:gd name="adj" fmla="val 14776"/>
            </a:avLst>
          </a:prstGeom>
          <a:solidFill>
            <a:srgbClr val="003180"/>
          </a:solidFill>
          <a:ln w="7620">
            <a:solidFill>
              <a:srgbClr val="194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35176" y="2925008"/>
            <a:ext cx="248007" cy="248007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9262467" y="3476149"/>
            <a:ext cx="352782" cy="352782"/>
          </a:xfrm>
          <a:prstGeom prst="roundRect">
            <a:avLst>
              <a:gd name="adj" fmla="val 21004"/>
            </a:avLst>
          </a:prstGeom>
          <a:solidFill>
            <a:srgbClr val="003180"/>
          </a:solidFill>
          <a:ln w="7620">
            <a:solidFill>
              <a:srgbClr val="194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28547" y="3542169"/>
            <a:ext cx="220504" cy="220504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9741337" y="3514725"/>
            <a:ext cx="2205276" cy="275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Diastolic BP</a:t>
            </a:r>
            <a:endParaRPr lang="en-US" sz="1700" dirty="0"/>
          </a:p>
        </p:txBody>
      </p:sp>
      <p:sp>
        <p:nvSpPr>
          <p:cNvPr id="15" name="Text 8"/>
          <p:cNvSpPr/>
          <p:nvPr/>
        </p:nvSpPr>
        <p:spPr>
          <a:xfrm>
            <a:off x="9741337" y="3916442"/>
            <a:ext cx="3114675" cy="484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β = 15.72</a:t>
            </a:r>
            <a:endParaRPr lang="en-US" sz="1350" dirty="0"/>
          </a:p>
          <a:p>
            <a:pPr marL="0" indent="0" algn="l">
              <a:lnSpc>
                <a:spcPts val="1900"/>
              </a:lnSpc>
              <a:buNone/>
            </a:pPr>
            <a:r>
              <a:rPr lang="en-US" sz="13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Dominant feature</a:t>
            </a:r>
            <a:endParaRPr lang="en-US" sz="1350" dirty="0"/>
          </a:p>
        </p:txBody>
      </p:sp>
      <p:sp>
        <p:nvSpPr>
          <p:cNvPr id="16" name="Shape 9"/>
          <p:cNvSpPr/>
          <p:nvPr/>
        </p:nvSpPr>
        <p:spPr>
          <a:xfrm>
            <a:off x="9262467" y="4665107"/>
            <a:ext cx="352782" cy="352782"/>
          </a:xfrm>
          <a:prstGeom prst="roundRect">
            <a:avLst>
              <a:gd name="adj" fmla="val 21004"/>
            </a:avLst>
          </a:prstGeom>
          <a:solidFill>
            <a:srgbClr val="003180"/>
          </a:solidFill>
          <a:ln w="7620">
            <a:solidFill>
              <a:srgbClr val="194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28547" y="4731127"/>
            <a:ext cx="220504" cy="220504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9741337" y="4703683"/>
            <a:ext cx="2205276" cy="275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Age</a:t>
            </a:r>
            <a:endParaRPr lang="en-US" sz="1700" dirty="0"/>
          </a:p>
        </p:txBody>
      </p:sp>
      <p:sp>
        <p:nvSpPr>
          <p:cNvPr id="19" name="Text 11"/>
          <p:cNvSpPr/>
          <p:nvPr/>
        </p:nvSpPr>
        <p:spPr>
          <a:xfrm>
            <a:off x="9741337" y="5105400"/>
            <a:ext cx="3114675" cy="726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β = 5.08</a:t>
            </a:r>
            <a:endParaRPr lang="en-US" sz="1350" dirty="0"/>
          </a:p>
          <a:p>
            <a:pPr marL="0" indent="0" algn="l">
              <a:lnSpc>
                <a:spcPts val="1900"/>
              </a:lnSpc>
              <a:buNone/>
            </a:pPr>
            <a:r>
              <a:rPr lang="en-US" sz="13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Secondary feature due to arterial stiffening</a:t>
            </a:r>
            <a:endParaRPr lang="en-US" sz="1350" dirty="0"/>
          </a:p>
        </p:txBody>
      </p:sp>
      <p:sp>
        <p:nvSpPr>
          <p:cNvPr id="20" name="Shape 12"/>
          <p:cNvSpPr/>
          <p:nvPr/>
        </p:nvSpPr>
        <p:spPr>
          <a:xfrm>
            <a:off x="9262467" y="6096119"/>
            <a:ext cx="352782" cy="352782"/>
          </a:xfrm>
          <a:prstGeom prst="roundRect">
            <a:avLst>
              <a:gd name="adj" fmla="val 21004"/>
            </a:avLst>
          </a:prstGeom>
          <a:solidFill>
            <a:srgbClr val="003180"/>
          </a:solidFill>
          <a:ln w="7620">
            <a:solidFill>
              <a:srgbClr val="194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328547" y="6162139"/>
            <a:ext cx="220504" cy="220504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9741337" y="6134695"/>
            <a:ext cx="2205276" cy="275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CigsPerDay</a:t>
            </a:r>
            <a:endParaRPr lang="en-US" sz="1700" dirty="0"/>
          </a:p>
        </p:txBody>
      </p:sp>
      <p:sp>
        <p:nvSpPr>
          <p:cNvPr id="23" name="Text 14"/>
          <p:cNvSpPr/>
          <p:nvPr/>
        </p:nvSpPr>
        <p:spPr>
          <a:xfrm>
            <a:off x="9741337" y="6536412"/>
            <a:ext cx="3114675" cy="726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Coefficient shrunk to zero</a:t>
            </a:r>
            <a:endParaRPr lang="en-US" sz="1350" dirty="0"/>
          </a:p>
          <a:p>
            <a:pPr marL="0" indent="0" algn="l">
              <a:lnSpc>
                <a:spcPts val="1900"/>
              </a:lnSpc>
              <a:buNone/>
            </a:pPr>
            <a:r>
              <a:rPr lang="en-US" sz="13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Not a direct linear predictor when DiaBP is included</a:t>
            </a:r>
            <a:endParaRPr lang="en-US" sz="135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1024" y="282298"/>
            <a:ext cx="6170771" cy="7712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050"/>
              </a:lnSpc>
              <a:buNone/>
            </a:pPr>
            <a:r>
              <a:rPr lang="en-US" sz="4850" dirty="0">
                <a:solidFill>
                  <a:srgbClr val="F5F0F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Model Diagnostics</a:t>
            </a:r>
            <a:endParaRPr lang="en-US" sz="4850" dirty="0"/>
          </a:p>
        </p:txBody>
      </p:sp>
      <p:sp>
        <p:nvSpPr>
          <p:cNvPr id="3" name="Shape 1"/>
          <p:cNvSpPr/>
          <p:nvPr/>
        </p:nvSpPr>
        <p:spPr>
          <a:xfrm>
            <a:off x="579329" y="1539041"/>
            <a:ext cx="4136350" cy="3007043"/>
          </a:xfrm>
          <a:prstGeom prst="roundRect">
            <a:avLst>
              <a:gd name="adj" fmla="val 4865"/>
            </a:avLst>
          </a:prstGeom>
          <a:solidFill>
            <a:srgbClr val="09151A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79329" y="1508561"/>
            <a:ext cx="4136350" cy="121920"/>
          </a:xfrm>
          <a:prstGeom prst="roundRect">
            <a:avLst>
              <a:gd name="adj" fmla="val 85031"/>
            </a:avLst>
          </a:prstGeom>
          <a:solidFill>
            <a:srgbClr val="609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277220" y="1168875"/>
            <a:ext cx="740450" cy="740450"/>
          </a:xfrm>
          <a:prstGeom prst="roundRect">
            <a:avLst>
              <a:gd name="adj" fmla="val 123492"/>
            </a:avLst>
          </a:prstGeom>
          <a:solidFill>
            <a:srgbClr val="609D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99391" y="1391046"/>
            <a:ext cx="296108" cy="2961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56626" y="2156022"/>
            <a:ext cx="3085386" cy="3855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Homoscedasticity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856626" y="2689541"/>
            <a:ext cx="3581757" cy="15792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19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Residuals vs. Fitted plot shows random scatter (no funnel shape), validating linear assumptions.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4962496" y="1539041"/>
            <a:ext cx="4136350" cy="3007043"/>
          </a:xfrm>
          <a:prstGeom prst="roundRect">
            <a:avLst>
              <a:gd name="adj" fmla="val 4865"/>
            </a:avLst>
          </a:prstGeom>
          <a:solidFill>
            <a:srgbClr val="09151A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962496" y="1508561"/>
            <a:ext cx="4136350" cy="121920"/>
          </a:xfrm>
          <a:prstGeom prst="roundRect">
            <a:avLst>
              <a:gd name="adj" fmla="val 85031"/>
            </a:avLst>
          </a:prstGeom>
          <a:solidFill>
            <a:srgbClr val="609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6660387" y="1168875"/>
            <a:ext cx="740450" cy="740450"/>
          </a:xfrm>
          <a:prstGeom prst="roundRect">
            <a:avLst>
              <a:gd name="adj" fmla="val 123492"/>
            </a:avLst>
          </a:prstGeom>
          <a:solidFill>
            <a:srgbClr val="609D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82558" y="1391046"/>
            <a:ext cx="296108" cy="2961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239793" y="2156022"/>
            <a:ext cx="3085386" cy="3855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Multicollinearity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5239793" y="2689541"/>
            <a:ext cx="3581757" cy="1184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19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All Variance Inflation Factors (VIF) are &lt; 1.3, well below the threshold of 5.</a:t>
            </a:r>
            <a:endParaRPr lang="en-US" sz="1900" dirty="0"/>
          </a:p>
        </p:txBody>
      </p:sp>
      <p:sp>
        <p:nvSpPr>
          <p:cNvPr id="15" name="Shape 11"/>
          <p:cNvSpPr/>
          <p:nvPr/>
        </p:nvSpPr>
        <p:spPr>
          <a:xfrm>
            <a:off x="9345663" y="1539041"/>
            <a:ext cx="4136350" cy="3007043"/>
          </a:xfrm>
          <a:prstGeom prst="roundRect">
            <a:avLst>
              <a:gd name="adj" fmla="val 4865"/>
            </a:avLst>
          </a:prstGeom>
          <a:solidFill>
            <a:srgbClr val="09151A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9345663" y="1508561"/>
            <a:ext cx="4136350" cy="121920"/>
          </a:xfrm>
          <a:prstGeom prst="roundRect">
            <a:avLst>
              <a:gd name="adj" fmla="val 85031"/>
            </a:avLst>
          </a:prstGeom>
          <a:solidFill>
            <a:srgbClr val="609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11043554" y="1168875"/>
            <a:ext cx="740450" cy="740450"/>
          </a:xfrm>
          <a:prstGeom prst="roundRect">
            <a:avLst>
              <a:gd name="adj" fmla="val 123492"/>
            </a:avLst>
          </a:prstGeom>
          <a:solidFill>
            <a:srgbClr val="609D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265725" y="1391046"/>
            <a:ext cx="296108" cy="29610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622960" y="2156022"/>
            <a:ext cx="3085386" cy="3855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Conclusion</a:t>
            </a:r>
            <a:endParaRPr lang="en-US" sz="2400" dirty="0"/>
          </a:p>
        </p:txBody>
      </p:sp>
      <p:sp>
        <p:nvSpPr>
          <p:cNvPr id="20" name="Text 15"/>
          <p:cNvSpPr/>
          <p:nvPr/>
        </p:nvSpPr>
        <p:spPr>
          <a:xfrm>
            <a:off x="9622960" y="2689541"/>
            <a:ext cx="3581757" cy="1184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19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Regression coefficients are stable, ensuring reliable statistical inference.</a:t>
            </a:r>
            <a:endParaRPr lang="en-US" sz="190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7E6759BC-BD2A-658A-30F6-5E3D2161A6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93" y="4546084"/>
            <a:ext cx="6618821" cy="3475968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4203828C-22F2-95EB-46DE-76F496DF465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5301" y="4546084"/>
            <a:ext cx="3928438" cy="34759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276224" y="502639"/>
            <a:ext cx="4739997" cy="592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650"/>
              </a:lnSpc>
              <a:buNone/>
            </a:pPr>
            <a:r>
              <a:rPr lang="en-US" sz="3700" dirty="0">
                <a:solidFill>
                  <a:srgbClr val="F5F0F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Final Conclusion</a:t>
            </a:r>
            <a:endParaRPr lang="en-US" sz="3700" dirty="0"/>
          </a:p>
        </p:txBody>
      </p:sp>
      <p:sp>
        <p:nvSpPr>
          <p:cNvPr id="4" name="Shape 1"/>
          <p:cNvSpPr/>
          <p:nvPr/>
        </p:nvSpPr>
        <p:spPr>
          <a:xfrm>
            <a:off x="276224" y="2167938"/>
            <a:ext cx="6810375" cy="1946862"/>
          </a:xfrm>
          <a:prstGeom prst="roundRect">
            <a:avLst>
              <a:gd name="adj" fmla="val 5034"/>
            </a:avLst>
          </a:prstGeom>
          <a:solidFill>
            <a:srgbClr val="003180"/>
          </a:solidFill>
          <a:ln w="7620">
            <a:solidFill>
              <a:srgbClr val="194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499410" y="2390286"/>
            <a:ext cx="2747867" cy="4070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Primary Risks</a:t>
            </a:r>
            <a:endParaRPr lang="en-US" sz="1850" dirty="0"/>
          </a:p>
        </p:txBody>
      </p:sp>
      <p:sp>
        <p:nvSpPr>
          <p:cNvPr id="6" name="Text 3"/>
          <p:cNvSpPr/>
          <p:nvPr/>
        </p:nvSpPr>
        <p:spPr>
          <a:xfrm>
            <a:off x="499409" y="3201219"/>
            <a:ext cx="6353157" cy="7365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Age and Systolic Blood Pressure are identified as the dominant drivers of 10-Year Coronary Heart Disease risk.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7400924" y="2167938"/>
            <a:ext cx="6810375" cy="1946862"/>
          </a:xfrm>
          <a:prstGeom prst="roundRect">
            <a:avLst>
              <a:gd name="adj" fmla="val 5034"/>
            </a:avLst>
          </a:prstGeom>
          <a:solidFill>
            <a:srgbClr val="003180"/>
          </a:solidFill>
          <a:ln w="7620">
            <a:solidFill>
              <a:srgbClr val="194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624111" y="2365105"/>
            <a:ext cx="2747867" cy="4070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Socioeconomic Link</a:t>
            </a:r>
            <a:endParaRPr lang="en-US" sz="1850" dirty="0"/>
          </a:p>
        </p:txBody>
      </p:sp>
      <p:sp>
        <p:nvSpPr>
          <p:cNvPr id="9" name="Text 6"/>
          <p:cNvSpPr/>
          <p:nvPr/>
        </p:nvSpPr>
        <p:spPr>
          <a:xfrm>
            <a:off x="7624110" y="3155669"/>
            <a:ext cx="6353157" cy="11048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Lower educational attainment shows a clear statistical link to higher BMI, highlighting a crucial target for public health interventions.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276224" y="4481024"/>
            <a:ext cx="6810375" cy="1946862"/>
          </a:xfrm>
          <a:prstGeom prst="roundRect">
            <a:avLst>
              <a:gd name="adj" fmla="val 5034"/>
            </a:avLst>
          </a:prstGeom>
          <a:solidFill>
            <a:srgbClr val="003180"/>
          </a:solidFill>
          <a:ln w="7620">
            <a:solidFill>
              <a:srgbClr val="194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499409" y="4670623"/>
            <a:ext cx="2747867" cy="4070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Behavioral Impact</a:t>
            </a:r>
            <a:endParaRPr lang="en-US" sz="1850" dirty="0"/>
          </a:p>
        </p:txBody>
      </p:sp>
      <p:sp>
        <p:nvSpPr>
          <p:cNvPr id="12" name="Text 9"/>
          <p:cNvSpPr/>
          <p:nvPr/>
        </p:nvSpPr>
        <p:spPr>
          <a:xfrm>
            <a:off x="499410" y="5362352"/>
            <a:ext cx="6353157" cy="7365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Smoking significantly elevates heart rate and is confirmed as a critical independent risk factor for CHD.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7400924" y="4481024"/>
            <a:ext cx="6810375" cy="1986187"/>
          </a:xfrm>
          <a:prstGeom prst="roundRect">
            <a:avLst>
              <a:gd name="adj" fmla="val 5034"/>
            </a:avLst>
          </a:prstGeom>
          <a:solidFill>
            <a:srgbClr val="003180"/>
          </a:solidFill>
          <a:ln w="7620">
            <a:solidFill>
              <a:srgbClr val="194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7632327" y="4684791"/>
            <a:ext cx="2747867" cy="4070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Analysis Summary</a:t>
            </a:r>
            <a:endParaRPr lang="en-US" sz="1850" dirty="0"/>
          </a:p>
        </p:txBody>
      </p:sp>
      <p:sp>
        <p:nvSpPr>
          <p:cNvPr id="15" name="Text 12"/>
          <p:cNvSpPr/>
          <p:nvPr/>
        </p:nvSpPr>
        <p:spPr>
          <a:xfrm>
            <a:off x="7624109" y="5362352"/>
            <a:ext cx="6353157" cy="11048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This comprehensive analysis successfully quantifies key cardiovascular risk factors using robust statistical inference methods, providing actionable insights for prevention.</a:t>
            </a:r>
            <a:endParaRPr lang="en-US" sz="145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251</TotalTime>
  <Words>653</Words>
  <Application>Microsoft Office PowerPoint</Application>
  <PresentationFormat>Custom</PresentationFormat>
  <Paragraphs>120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Merriweather Light</vt:lpstr>
      <vt:lpstr>Merriweather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Abolfazl Ghandi</cp:lastModifiedBy>
  <cp:revision>20</cp:revision>
  <dcterms:created xsi:type="dcterms:W3CDTF">2026-02-21T08:27:02Z</dcterms:created>
  <dcterms:modified xsi:type="dcterms:W3CDTF">2026-09-10T18:29:27Z</dcterms:modified>
</cp:coreProperties>
</file>